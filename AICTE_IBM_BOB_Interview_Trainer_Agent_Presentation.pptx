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982" autoAdjust="0"/>
  </p:normalViewPr>
  <p:slideViewPr>
    <p:cSldViewPr snapToGrid="0">
      <p:cViewPr varScale="1">
        <p:scale>
          <a:sx n="83" d="100"/>
          <a:sy n="83" d="100"/>
        </p:scale>
        <p:origin x="-629"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0073778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sangamkardurgeshwari@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325046303"/>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 xmlns:a16="http://schemas.microsoft.com/office/drawing/2014/main" val="20000"/>
                    </a:ext>
                  </a:extLst>
                </a:gridCol>
                <a:gridCol w="2443374">
                  <a:extLst>
                    <a:ext uri="{9D8B030D-6E8A-4147-A177-3AD203B41FA5}">
                      <a16:colId xmlns="" xmlns:a16="http://schemas.microsoft.com/office/drawing/2014/main" val="20002"/>
                    </a:ext>
                  </a:extLst>
                </a:gridCol>
                <a:gridCol w="2443374">
                  <a:extLst>
                    <a:ext uri="{9D8B030D-6E8A-4147-A177-3AD203B41FA5}">
                      <a16:colId xmlns="" xmlns:a16="http://schemas.microsoft.com/office/drawing/2014/main" val="20003"/>
                    </a:ext>
                  </a:extLst>
                </a:gridCol>
                <a:gridCol w="2443374">
                  <a:extLst>
                    <a:ext uri="{9D8B030D-6E8A-4147-A177-3AD203B41FA5}">
                      <a16:colId xmlns=""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 xmlns:a16="http://schemas.microsoft.com/office/drawing/2014/main" val="10000"/>
                  </a:ext>
                </a:extLst>
              </a:tr>
              <a:tr h="1193891">
                <a:tc>
                  <a:txBody>
                    <a:bodyPr/>
                    <a:lstStyle/>
                    <a:p>
                      <a:pPr marL="0" marR="0" lvl="0" indent="0" algn="l" rtl="0">
                        <a:spcBef>
                          <a:spcPts val="0"/>
                        </a:spcBef>
                        <a:spcAft>
                          <a:spcPts val="0"/>
                        </a:spcAft>
                        <a:buNone/>
                      </a:pPr>
                      <a:r>
                        <a:rPr lang="en-US" sz="2000" dirty="0" err="1" smtClean="0"/>
                        <a:t>Durgeshwari</a:t>
                      </a:r>
                      <a:r>
                        <a:rPr lang="en-US" sz="2000" baseline="0" dirty="0" smtClean="0"/>
                        <a:t> </a:t>
                      </a:r>
                      <a:r>
                        <a:rPr lang="en-US" sz="2000" baseline="0" dirty="0" err="1" smtClean="0"/>
                        <a:t>sangamkar</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smtClean="0">
                          <a:hlinkClick r:id="rId3"/>
                        </a:rPr>
                        <a:t>sangamkardurgeshwari@gmail.com</a:t>
                      </a:r>
                      <a:r>
                        <a:rPr lang="en-US" sz="1600" dirty="0" smtClean="0"/>
                        <a:t> </a:t>
                      </a:r>
                      <a:endParaRPr lang="en-US" sz="1600" baseline="0" dirty="0" smtClean="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smtClean="0"/>
                        <a:t>7517484949</a:t>
                      </a:r>
                    </a:p>
                    <a:p>
                      <a:pPr marL="0" marR="0" lvl="0" indent="0" algn="l" rtl="0">
                        <a:spcBef>
                          <a:spcPts val="0"/>
                        </a:spcBef>
                        <a:spcAft>
                          <a:spcPts val="0"/>
                        </a:spcAft>
                        <a:buNone/>
                      </a:pP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 xmlns:a16="http://schemas.microsoft.com/office/drawing/2014/main" val="10001"/>
                  </a:ext>
                </a:extLst>
              </a:tr>
            </a:tbl>
          </a:graphicData>
        </a:graphic>
      </p:graphicFrame>
      <p:sp>
        <p:nvSpPr>
          <p:cNvPr id="4" name="TextBox 3">
            <a:extLst>
              <a:ext uri="{FF2B5EF4-FFF2-40B4-BE49-F238E27FC236}">
                <a16:creationId xmlns=""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400" b="1" dirty="0"/>
              <a:t>Domain of  Project – </a:t>
            </a:r>
            <a:r>
              <a:rPr lang="en-US" sz="2800" b="1" dirty="0" smtClean="0">
                <a:highlight>
                  <a:srgbClr val="FFFF00"/>
                </a:highlight>
              </a:rPr>
              <a:t>[Educational and Career Development]</a:t>
            </a:r>
            <a:endParaRPr lang="en-IN" sz="2800" b="1" dirty="0">
              <a:highlight>
                <a:srgbClr val="FFFF00"/>
              </a:highlight>
            </a:endParaRPr>
          </a:p>
        </p:txBody>
      </p:sp>
      <p:sp>
        <p:nvSpPr>
          <p:cNvPr id="7" name="TextBox 6">
            <a:extLst>
              <a:ext uri="{FF2B5EF4-FFF2-40B4-BE49-F238E27FC236}">
                <a16:creationId xmlns=""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400" b="1" dirty="0"/>
              <a:t>Project Tile – </a:t>
            </a:r>
            <a:r>
              <a:rPr lang="en-US" sz="2800" b="1" dirty="0" smtClean="0">
                <a:highlight>
                  <a:srgbClr val="FFFF00"/>
                </a:highlight>
                <a:latin typeface="+mj-lt"/>
              </a:rPr>
              <a:t>[</a:t>
            </a:r>
            <a:r>
              <a:rPr lang="en-US" sz="2800" b="1" dirty="0" smtClean="0">
                <a:solidFill>
                  <a:srgbClr val="002060"/>
                </a:solidFill>
                <a:highlight>
                  <a:srgbClr val="FFFF00"/>
                </a:highlight>
                <a:latin typeface="+mj-lt"/>
                <a:cs typeface="Times New Roman"/>
                <a:sym typeface="Times New Roman"/>
              </a:rPr>
              <a:t>Interview Trainer Agent</a:t>
            </a:r>
            <a:r>
              <a:rPr lang="en-US" sz="2800" b="1" dirty="0" smtClean="0">
                <a:highlight>
                  <a:srgbClr val="FFFF00"/>
                </a:highlight>
                <a:latin typeface="+mj-lt"/>
              </a:rPr>
              <a:t>]</a:t>
            </a:r>
            <a:endParaRPr lang="en-IN" sz="2800" b="1" dirty="0">
              <a:highlight>
                <a:srgbClr val="FFFF00"/>
              </a:highlight>
              <a:latin typeface="+mj-lt"/>
            </a:endParaRPr>
          </a:p>
        </p:txBody>
      </p:sp>
      <p:sp>
        <p:nvSpPr>
          <p:cNvPr id="3" name="TextBox 2">
            <a:extLst>
              <a:ext uri="{FF2B5EF4-FFF2-40B4-BE49-F238E27FC236}">
                <a16:creationId xmlns=""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r>
              <a:rPr lang="en-US" sz="2000"/>
              <a:t/>
            </a: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70783" y="3620278"/>
            <a:ext cx="1073021" cy="1082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C6F6745E-14BA-0766-CE1E-32E29663832D}"/>
              </a:ext>
            </a:extLst>
          </p:cNvPr>
          <p:cNvSpPr txBox="1"/>
          <p:nvPr/>
        </p:nvSpPr>
        <p:spPr>
          <a:xfrm>
            <a:off x="576072" y="1234440"/>
            <a:ext cx="10607040" cy="5447645"/>
          </a:xfrm>
          <a:prstGeom prst="rect">
            <a:avLst/>
          </a:prstGeom>
          <a:noFill/>
        </p:spPr>
        <p:txBody>
          <a:bodyPr wrap="square" rtlCol="0">
            <a:spAutoFit/>
          </a:bodyPr>
          <a:lstStyle/>
          <a:p>
            <a:pPr fontAlgn="base"/>
            <a:r>
              <a:rPr lang="en-US" sz="2000" b="1" dirty="0"/>
              <a:t>Problem Statement </a:t>
            </a:r>
            <a:r>
              <a:rPr lang="en-US" sz="2000" b="1" dirty="0" smtClean="0"/>
              <a:t>:</a:t>
            </a:r>
            <a:r>
              <a:rPr lang="en-IN" sz="2000" dirty="0"/>
              <a:t>Interview Trainer Agent</a:t>
            </a:r>
            <a:endParaRPr lang="en-US" sz="2000" b="1" dirty="0"/>
          </a:p>
          <a:p>
            <a:pPr fontAlgn="base"/>
            <a:r>
              <a:rPr lang="en-US" sz="2000" b="1" dirty="0"/>
              <a:t>The Challenge</a:t>
            </a:r>
            <a:r>
              <a:rPr lang="en-US" sz="2000" dirty="0"/>
              <a:t> </a:t>
            </a:r>
            <a:r>
              <a:rPr lang="en-US" sz="2000" dirty="0" smtClean="0"/>
              <a:t>:</a:t>
            </a:r>
          </a:p>
          <a:p>
            <a:pPr fontAlgn="base"/>
            <a:r>
              <a:rPr lang="en-US" sz="2000" dirty="0"/>
              <a:t> An Interview Trainer Agent, powered by RAG (Retrieval-Augmented Generation), prepares users for job interviews by generating tailored question sets and preparation strategies based on their profile name, experience level, and job role. It retrieves role-specific interview questions, industry expectations, behavioral scenarios, and HR guidelines from recruitment portals, professional networks, and company interview databases. Users can input their resume or job title, and the agent provides targeted questions, model answers, and improvement tips. It supports both technical and soft skill assessment, ensuring a comprehensive interview prep experience. This AI-driven assistant builds user confidence, sharpens responses, and increases success rates in competitive hiring environments</a:t>
            </a:r>
            <a:r>
              <a:rPr lang="en-US" sz="2000" dirty="0" smtClean="0"/>
              <a:t>. </a:t>
            </a:r>
            <a:endParaRPr lang="en-US" sz="2000" dirty="0"/>
          </a:p>
          <a:p>
            <a:pPr fontAlgn="base"/>
            <a:r>
              <a:rPr lang="en-US" sz="2000" b="1" dirty="0" smtClean="0"/>
              <a:t>The </a:t>
            </a:r>
            <a:r>
              <a:rPr lang="en-US" sz="2000" b="1" dirty="0"/>
              <a:t>Objective</a:t>
            </a:r>
            <a:r>
              <a:rPr lang="en-US" sz="2000" dirty="0"/>
              <a:t> </a:t>
            </a:r>
            <a:r>
              <a:rPr lang="en-US" sz="2000" dirty="0" smtClean="0"/>
              <a:t>:</a:t>
            </a:r>
          </a:p>
          <a:p>
            <a:pPr fontAlgn="base"/>
            <a:r>
              <a:rPr lang="en-US" sz="2000" dirty="0"/>
              <a:t>To develop an AI-powered Interview Trainer Agent that uses RAG and IBM Granite to generate personalized interview questions, evaluate candidate responses, and provide actionable feedback based on the candidate’s profile, experience, and target job role</a:t>
            </a:r>
          </a:p>
          <a:p>
            <a:pPr fontAlgn="base"/>
            <a:endParaRPr lang="en-US" sz="2000" dirty="0"/>
          </a:p>
          <a:p>
            <a:pPr fontAlgn="base"/>
            <a:endParaRPr lang="en-US" dirty="0"/>
          </a:p>
          <a:p>
            <a:endParaRPr lang="en-IN" dirty="0"/>
          </a:p>
        </p:txBody>
      </p:sp>
      <p:sp>
        <p:nvSpPr>
          <p:cNvPr id="3" name="TextBox 2">
            <a:extLst>
              <a:ext uri="{FF2B5EF4-FFF2-40B4-BE49-F238E27FC236}">
                <a16:creationId xmlns=""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4A1BF701-ABCA-4DF0-8330-B6AF71EF8E39}"/>
              </a:ext>
            </a:extLst>
          </p:cNvPr>
          <p:cNvSpPr txBox="1"/>
          <p:nvPr/>
        </p:nvSpPr>
        <p:spPr>
          <a:xfrm>
            <a:off x="576072" y="1234440"/>
            <a:ext cx="10607040" cy="5447645"/>
          </a:xfrm>
          <a:prstGeom prst="rect">
            <a:avLst/>
          </a:prstGeom>
          <a:noFill/>
        </p:spPr>
        <p:txBody>
          <a:bodyPr wrap="square" rtlCol="0">
            <a:spAutoFit/>
          </a:bodyPr>
          <a:lstStyle/>
          <a:p>
            <a:pPr fontAlgn="base"/>
            <a:endParaRPr lang="en-US" b="1" dirty="0"/>
          </a:p>
          <a:p>
            <a:r>
              <a:rPr lang="en-US" sz="2000" b="1" dirty="0"/>
              <a:t>Proposed </a:t>
            </a:r>
            <a:r>
              <a:rPr lang="en-US" sz="2000" b="1" dirty="0" smtClean="0"/>
              <a:t>Solution:</a:t>
            </a:r>
            <a:r>
              <a:rPr lang="en-IN" sz="2000" dirty="0"/>
              <a:t>AI-Powered Interview Trainer Agent</a:t>
            </a:r>
            <a:endParaRPr lang="en-US" sz="2000" b="1" dirty="0"/>
          </a:p>
          <a:p>
            <a:r>
              <a:rPr lang="en-US" sz="2000" dirty="0"/>
              <a:t>The proposed solution is an </a:t>
            </a:r>
            <a:r>
              <a:rPr lang="en-US" sz="2000" b="1" dirty="0"/>
              <a:t>AI-powered Interview Trainer Agent</a:t>
            </a:r>
            <a:r>
              <a:rPr lang="en-US" sz="2000" dirty="0"/>
              <a:t> built using </a:t>
            </a:r>
            <a:r>
              <a:rPr lang="en-US" sz="2000" b="1" dirty="0"/>
              <a:t>IBM watsonx.ai, Granite Models, and </a:t>
            </a:r>
            <a:r>
              <a:rPr lang="en-US" sz="2000" b="1" dirty="0" err="1"/>
              <a:t>watsonx</a:t>
            </a:r>
            <a:r>
              <a:rPr lang="en-US" sz="2000" b="1" dirty="0"/>
              <a:t> Orchestrate</a:t>
            </a:r>
            <a:r>
              <a:rPr lang="en-US" sz="2000" dirty="0"/>
              <a:t> to provide personalized interview preparation.</a:t>
            </a:r>
          </a:p>
          <a:p>
            <a:r>
              <a:rPr lang="en-US" sz="2000" dirty="0"/>
              <a:t>The system uses a </a:t>
            </a:r>
            <a:r>
              <a:rPr lang="en-US" sz="2000" b="1" dirty="0"/>
              <a:t>RAG pipeline</a:t>
            </a:r>
            <a:r>
              <a:rPr lang="en-US" sz="2000" dirty="0"/>
              <a:t> to retrieve relevant technical, behavioral, HR, and role-specific interview knowledge and provide grounded responses.</a:t>
            </a:r>
          </a:p>
          <a:p>
            <a:r>
              <a:rPr lang="en-US" sz="2000" dirty="0"/>
              <a:t>The agent generates </a:t>
            </a:r>
            <a:r>
              <a:rPr lang="en-US" sz="2000" b="1" dirty="0"/>
              <a:t>personalized interview questions, model answers, evaluates user responses, provides scores and improvement tips, and asks follow-up questions</a:t>
            </a:r>
            <a:r>
              <a:rPr lang="en-US" sz="2000" dirty="0"/>
              <a:t> based on the candidate's profile, experience, skills, and target role.</a:t>
            </a:r>
          </a:p>
          <a:p>
            <a:r>
              <a:rPr lang="en-US" sz="2000" dirty="0"/>
              <a:t>A </a:t>
            </a:r>
            <a:r>
              <a:rPr lang="en-US" sz="2000" b="1" dirty="0"/>
              <a:t>user-friendly web dashboard</a:t>
            </a:r>
            <a:r>
              <a:rPr lang="en-US" sz="2000" dirty="0"/>
              <a:t> allows candidates to set up their profile, practice interviews, submit or skip questions, view AI-generated feedback, and see their final performance summary.</a:t>
            </a:r>
          </a:p>
          <a:p>
            <a:r>
              <a:rPr lang="en-US" sz="2000" dirty="0"/>
              <a:t>Overall, the solution provides an </a:t>
            </a:r>
            <a:r>
              <a:rPr lang="en-US" sz="2000" b="1" dirty="0"/>
              <a:t>end-to-end intelligent interview preparation assistant</a:t>
            </a:r>
            <a:r>
              <a:rPr lang="en-US" sz="2000" dirty="0"/>
              <a:t> that helps candidates improve their responses, build confidence, and prepare effectively for competitive job interviews.</a:t>
            </a:r>
          </a:p>
          <a:p>
            <a:pPr fontAlgn="base"/>
            <a:endParaRPr lang="en-US" sz="2000" dirty="0"/>
          </a:p>
          <a:p>
            <a:endParaRPr lang="en-IN" dirty="0"/>
          </a:p>
        </p:txBody>
      </p:sp>
      <p:sp>
        <p:nvSpPr>
          <p:cNvPr id="3" name="TextBox 2">
            <a:extLst>
              <a:ext uri="{FF2B5EF4-FFF2-40B4-BE49-F238E27FC236}">
                <a16:creationId xmlns=""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 xmlns:a16="http://schemas.microsoft.com/office/drawing/2014/main" id="{4A7608B5-9906-EFCF-959A-E89FC2E3EE19}"/>
              </a:ext>
            </a:extLst>
          </p:cNvPr>
          <p:cNvSpPr txBox="1"/>
          <p:nvPr/>
        </p:nvSpPr>
        <p:spPr>
          <a:xfrm>
            <a:off x="777240" y="1207008"/>
            <a:ext cx="10515600" cy="5632311"/>
          </a:xfrm>
          <a:prstGeom prst="rect">
            <a:avLst/>
          </a:prstGeom>
          <a:noFill/>
        </p:spPr>
        <p:txBody>
          <a:bodyPr wrap="square" rtlCol="0">
            <a:spAutoFit/>
          </a:bodyPr>
          <a:lstStyle/>
          <a:p>
            <a:pPr marL="342900" indent="-342900">
              <a:buFont typeface="Wingdings" pitchFamily="2" charset="2"/>
              <a:buChar char="Ø"/>
            </a:pPr>
            <a:r>
              <a:rPr lang="en-IN" sz="2000" b="1" dirty="0" smtClean="0"/>
              <a:t>IBM </a:t>
            </a:r>
            <a:r>
              <a:rPr lang="en-IN" sz="2000" b="1" dirty="0"/>
              <a:t>Bob</a:t>
            </a:r>
            <a:r>
              <a:rPr lang="en-IN" sz="2000" dirty="0"/>
              <a:t> – For AI-assisted application development, code generation, debugging, and project development</a:t>
            </a:r>
            <a:r>
              <a:rPr lang="en-IN" sz="2000" dirty="0" smtClean="0"/>
              <a:t>.</a:t>
            </a:r>
          </a:p>
          <a:p>
            <a:pPr marL="342900" indent="-342900">
              <a:buFont typeface="Wingdings" pitchFamily="2" charset="2"/>
              <a:buChar char="Ø"/>
            </a:pPr>
            <a:endParaRPr lang="en-IN" sz="2000" dirty="0" smtClean="0"/>
          </a:p>
          <a:p>
            <a:pPr marL="342900" indent="-342900">
              <a:buFont typeface="Wingdings" pitchFamily="2" charset="2"/>
              <a:buChar char="Ø"/>
            </a:pPr>
            <a:r>
              <a:rPr lang="en-IN" sz="2000" b="1" dirty="0" smtClean="0"/>
              <a:t>IBM </a:t>
            </a:r>
            <a:r>
              <a:rPr lang="en-IN" sz="2000" b="1" dirty="0"/>
              <a:t>watsonx.ai</a:t>
            </a:r>
            <a:r>
              <a:rPr lang="en-IN" sz="2000" dirty="0"/>
              <a:t> – For IBM Granite model integration</a:t>
            </a:r>
            <a:r>
              <a:rPr lang="en-IN" sz="2000" dirty="0" smtClean="0"/>
              <a:t>.</a:t>
            </a:r>
          </a:p>
          <a:p>
            <a:pPr marL="342900" indent="-342900">
              <a:buFont typeface="Wingdings" pitchFamily="2" charset="2"/>
              <a:buChar char="Ø"/>
            </a:pPr>
            <a:endParaRPr lang="en-IN" sz="2000" dirty="0" smtClean="0"/>
          </a:p>
          <a:p>
            <a:pPr marL="342900" indent="-342900">
              <a:buFont typeface="Wingdings" pitchFamily="2" charset="2"/>
              <a:buChar char="Ø"/>
            </a:pPr>
            <a:r>
              <a:rPr lang="en-IN" sz="2000" b="1" dirty="0" smtClean="0"/>
              <a:t>IBM </a:t>
            </a:r>
            <a:r>
              <a:rPr lang="en-IN" sz="2000" b="1" dirty="0"/>
              <a:t>Granite Model</a:t>
            </a:r>
            <a:r>
              <a:rPr lang="en-IN" sz="2000" dirty="0"/>
              <a:t> – For interview question generation, answer evaluation, reasoning, and personalized feedback. </a:t>
            </a:r>
            <a:endParaRPr lang="en-IN" sz="2000" dirty="0" smtClean="0"/>
          </a:p>
          <a:p>
            <a:pPr marL="342900" indent="-342900">
              <a:buFont typeface="Wingdings" pitchFamily="2" charset="2"/>
              <a:buChar char="Ø"/>
            </a:pPr>
            <a:endParaRPr lang="en-IN" sz="2000" dirty="0" smtClean="0"/>
          </a:p>
          <a:p>
            <a:pPr marL="342900" indent="-342900">
              <a:buFont typeface="Wingdings" pitchFamily="2" charset="2"/>
              <a:buChar char="Ø"/>
            </a:pPr>
            <a:r>
              <a:rPr lang="en-IN" sz="2000" b="1" dirty="0" smtClean="0"/>
              <a:t>IBM </a:t>
            </a:r>
            <a:r>
              <a:rPr lang="en-IN" sz="2000" b="1" dirty="0" err="1"/>
              <a:t>watsonx</a:t>
            </a:r>
            <a:r>
              <a:rPr lang="en-IN" sz="2000" b="1" dirty="0"/>
              <a:t> Orchestrate</a:t>
            </a:r>
            <a:r>
              <a:rPr lang="en-IN" sz="2000" dirty="0"/>
              <a:t> – For </a:t>
            </a:r>
            <a:r>
              <a:rPr lang="en-IN" sz="2000" dirty="0" err="1"/>
              <a:t>agentic</a:t>
            </a:r>
            <a:r>
              <a:rPr lang="en-IN" sz="2000" dirty="0"/>
              <a:t> workflow orchestration. </a:t>
            </a:r>
            <a:endParaRPr lang="en-IN" sz="2000" dirty="0" smtClean="0"/>
          </a:p>
          <a:p>
            <a:pPr marL="342900" indent="-342900">
              <a:buFont typeface="Wingdings" pitchFamily="2" charset="2"/>
              <a:buChar char="Ø"/>
            </a:pPr>
            <a:endParaRPr lang="en-IN" sz="2000" dirty="0" smtClean="0"/>
          </a:p>
          <a:p>
            <a:pPr marL="342900" indent="-342900">
              <a:buFont typeface="Wingdings" pitchFamily="2" charset="2"/>
              <a:buChar char="Ø"/>
            </a:pPr>
            <a:r>
              <a:rPr lang="en-IN" sz="2000" b="1" dirty="0" smtClean="0"/>
              <a:t>RAG</a:t>
            </a:r>
            <a:r>
              <a:rPr lang="en-IN" sz="2000" dirty="0" smtClean="0"/>
              <a:t> </a:t>
            </a:r>
            <a:r>
              <a:rPr lang="en-IN" sz="2000" dirty="0"/>
              <a:t>– For retrieving relevant interview knowledge before generating responses. </a:t>
            </a:r>
            <a:endParaRPr lang="en-IN" sz="2000" dirty="0" smtClean="0"/>
          </a:p>
          <a:p>
            <a:pPr marL="342900" indent="-342900">
              <a:buFont typeface="Wingdings" pitchFamily="2" charset="2"/>
              <a:buChar char="Ø"/>
            </a:pPr>
            <a:endParaRPr lang="en-IN" sz="2000" dirty="0" smtClean="0"/>
          </a:p>
          <a:p>
            <a:pPr marL="342900" indent="-342900">
              <a:buFont typeface="Wingdings" pitchFamily="2" charset="2"/>
              <a:buChar char="Ø"/>
            </a:pPr>
            <a:r>
              <a:rPr lang="en-IN" sz="2000" b="1" dirty="0" smtClean="0"/>
              <a:t>IBM </a:t>
            </a:r>
            <a:r>
              <a:rPr lang="en-IN" sz="2000" b="1" dirty="0"/>
              <a:t>Cloud</a:t>
            </a:r>
            <a:r>
              <a:rPr lang="en-IN" sz="2000" dirty="0"/>
              <a:t> – For cloud infrastructure and IBM services</a:t>
            </a:r>
            <a:r>
              <a:rPr lang="en-IN" sz="2000" dirty="0" smtClean="0"/>
              <a:t>.</a:t>
            </a:r>
          </a:p>
          <a:p>
            <a:pPr marL="342900" indent="-342900">
              <a:buFont typeface="Wingdings" pitchFamily="2" charset="2"/>
              <a:buChar char="Ø"/>
            </a:pPr>
            <a:endParaRPr lang="en-IN" sz="2000" dirty="0" smtClean="0"/>
          </a:p>
          <a:p>
            <a:pPr marL="342900" indent="-342900">
              <a:buFont typeface="Wingdings" pitchFamily="2" charset="2"/>
              <a:buChar char="Ø"/>
            </a:pPr>
            <a:r>
              <a:rPr lang="en-IN" sz="2000" b="1" dirty="0" smtClean="0"/>
              <a:t>React</a:t>
            </a:r>
            <a:r>
              <a:rPr lang="en-IN" sz="2000" dirty="0" smtClean="0"/>
              <a:t> </a:t>
            </a:r>
            <a:r>
              <a:rPr lang="en-IN" sz="2000" dirty="0"/>
              <a:t>– For the interactive, responsive frontend. </a:t>
            </a:r>
            <a:endParaRPr lang="en-IN" sz="2000" dirty="0" smtClean="0"/>
          </a:p>
          <a:p>
            <a:pPr marL="342900" indent="-342900">
              <a:buFont typeface="Wingdings" pitchFamily="2" charset="2"/>
              <a:buChar char="Ø"/>
            </a:pPr>
            <a:endParaRPr lang="en-IN" sz="2000" dirty="0" smtClean="0"/>
          </a:p>
          <a:p>
            <a:pPr marL="342900" indent="-342900">
              <a:buFont typeface="Wingdings" pitchFamily="2" charset="2"/>
              <a:buChar char="Ø"/>
            </a:pPr>
            <a:r>
              <a:rPr lang="en-IN" sz="2000" b="1" dirty="0" smtClean="0"/>
              <a:t>Knowledge </a:t>
            </a:r>
            <a:r>
              <a:rPr lang="en-IN" sz="2000" b="1" dirty="0"/>
              <a:t>Base / Vector Retrieval</a:t>
            </a:r>
            <a:r>
              <a:rPr lang="en-IN" sz="2000" dirty="0"/>
              <a:t> – For storing and retrieving interview-preparation knowledge.</a:t>
            </a:r>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9388" y="1156996"/>
            <a:ext cx="8593494" cy="5427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1775" y="1085849"/>
            <a:ext cx="9190038" cy="4988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224" y="457200"/>
            <a:ext cx="10643616" cy="615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5988" y="730250"/>
            <a:ext cx="10356850" cy="5395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 xmlns:a16="http://schemas.microsoft.com/office/drawing/2014/main" id="{322462E8-EB3A-DA7D-44CB-4E757803A755}"/>
              </a:ext>
            </a:extLst>
          </p:cNvPr>
          <p:cNvSpPr txBox="1"/>
          <p:nvPr/>
        </p:nvSpPr>
        <p:spPr>
          <a:xfrm>
            <a:off x="621792" y="1167493"/>
            <a:ext cx="7406640" cy="4493538"/>
          </a:xfrm>
          <a:prstGeom prst="rect">
            <a:avLst/>
          </a:prstGeom>
          <a:noFill/>
        </p:spPr>
        <p:txBody>
          <a:bodyPr wrap="square" rtlCol="0">
            <a:spAutoFit/>
          </a:bodyPr>
          <a:lstStyle/>
          <a:p>
            <a:r>
              <a:rPr lang="en-US" sz="1600" b="1" dirty="0"/>
              <a:t>Role of </a:t>
            </a:r>
            <a:r>
              <a:rPr lang="en-US" sz="1600" b="1" dirty="0" err="1"/>
              <a:t>Agentic</a:t>
            </a:r>
            <a:r>
              <a:rPr lang="en-US" sz="1600" b="1" dirty="0"/>
              <a:t> AI in </a:t>
            </a:r>
            <a:r>
              <a:rPr lang="en-US" sz="1600" b="1" dirty="0" smtClean="0"/>
              <a:t>interview training agent</a:t>
            </a:r>
            <a:endParaRPr lang="en-US" sz="1600" b="1" dirty="0"/>
          </a:p>
          <a:p>
            <a:r>
              <a:rPr lang="en-US" sz="1600" b="1" dirty="0" err="1"/>
              <a:t>Agentic</a:t>
            </a:r>
            <a:r>
              <a:rPr lang="en-US" sz="1600" b="1" dirty="0"/>
              <a:t> AI</a:t>
            </a:r>
            <a:r>
              <a:rPr lang="en-US" sz="1600" dirty="0"/>
              <a:t> enables the </a:t>
            </a:r>
            <a:r>
              <a:rPr lang="en-US" sz="1600" b="1" dirty="0" err="1"/>
              <a:t>Agentic</a:t>
            </a:r>
            <a:r>
              <a:rPr lang="en-US" sz="1600" b="1" dirty="0"/>
              <a:t> RAG Interview Trainer</a:t>
            </a:r>
            <a:r>
              <a:rPr lang="en-US" sz="1600" dirty="0"/>
              <a:t> to work as an intelligent and adaptive interview system rather than a simple </a:t>
            </a:r>
            <a:r>
              <a:rPr lang="en-US" sz="1600" dirty="0" err="1"/>
              <a:t>chatbot</a:t>
            </a:r>
            <a:r>
              <a:rPr lang="en-US" sz="1600" dirty="0"/>
              <a:t>. It uses </a:t>
            </a:r>
            <a:r>
              <a:rPr lang="en-US" sz="1600" b="1" dirty="0"/>
              <a:t>IBM watsonx.ai, IBM Granite models, and RAG</a:t>
            </a:r>
            <a:r>
              <a:rPr lang="en-US" sz="1600" dirty="0"/>
              <a:t> to manage the complete mock-interview workflow.</a:t>
            </a:r>
          </a:p>
          <a:p>
            <a:r>
              <a:rPr lang="en-US" sz="1600" dirty="0"/>
              <a:t>The system performs specialized tasks such as </a:t>
            </a:r>
            <a:r>
              <a:rPr lang="en-US" sz="1600" b="1" dirty="0"/>
              <a:t>generating interview questions, retrieving relevant knowledge, evaluating candidate answers, and selecting the next question</a:t>
            </a:r>
            <a:r>
              <a:rPr lang="en-US" sz="1600" dirty="0"/>
              <a:t> based on the interview context.</a:t>
            </a:r>
          </a:p>
          <a:p>
            <a:r>
              <a:rPr lang="en-US" sz="1600" dirty="0" err="1"/>
              <a:t>Agentic</a:t>
            </a:r>
            <a:r>
              <a:rPr lang="en-US" sz="1600" dirty="0"/>
              <a:t> AI provides </a:t>
            </a:r>
            <a:r>
              <a:rPr lang="en-US" sz="1600" b="1" dirty="0"/>
              <a:t>context awareness</a:t>
            </a:r>
            <a:r>
              <a:rPr lang="en-US" sz="1600" dirty="0"/>
              <a:t> by maintaining the candidate's previous questions and answers, allowing the interview to adapt to the candidate's responses and performance.</a:t>
            </a:r>
          </a:p>
          <a:p>
            <a:r>
              <a:rPr lang="en-US" sz="1600" dirty="0"/>
              <a:t>It also enables </a:t>
            </a:r>
            <a:r>
              <a:rPr lang="en-US" sz="1600" b="1" dirty="0"/>
              <a:t>autonomous decision-making</a:t>
            </a:r>
            <a:r>
              <a:rPr lang="en-US" sz="1600" dirty="0"/>
              <a:t>, such as continuing the interview, evaluating the response, providing feedback, and progressing through the interview session without requiring manual control.</a:t>
            </a:r>
          </a:p>
          <a:p>
            <a:r>
              <a:rPr lang="en-US" sz="1600" dirty="0"/>
              <a:t>Overall, </a:t>
            </a:r>
            <a:r>
              <a:rPr lang="en-US" sz="1600" dirty="0" err="1"/>
              <a:t>Agentic</a:t>
            </a:r>
            <a:r>
              <a:rPr lang="en-US" sz="1600" dirty="0"/>
              <a:t> AI makes the solution </a:t>
            </a:r>
            <a:r>
              <a:rPr lang="en-US" sz="1600" b="1" dirty="0"/>
              <a:t>adaptive, interactive, personalized, and goal-driven</a:t>
            </a:r>
            <a:r>
              <a:rPr lang="en-US" sz="1600" dirty="0"/>
              <a:t>, acting as an </a:t>
            </a:r>
            <a:r>
              <a:rPr lang="en-US" sz="1600" b="1" dirty="0"/>
              <a:t>AI-powered mock interviewer and interview coach</a:t>
            </a:r>
            <a:r>
              <a:rPr lang="en-US" sz="1600" dirty="0"/>
              <a:t>.</a:t>
            </a:r>
          </a:p>
          <a:p>
            <a:endParaRPr lang="en-US" dirty="0"/>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smtClean="0"/>
              <a:t>24055  </a:t>
            </a:r>
            <a:r>
              <a:rPr lang="en-US" dirty="0"/>
              <a:t>token are used</a:t>
            </a:r>
          </a:p>
        </p:txBody>
      </p:sp>
      <p:sp>
        <p:nvSpPr>
          <p:cNvPr id="14" name="TextBox 13">
            <a:extLst>
              <a:ext uri="{FF2B5EF4-FFF2-40B4-BE49-F238E27FC236}">
                <a16:creationId xmlns=""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5575" y="2453593"/>
            <a:ext cx="5114925" cy="285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Straight Connector 2"/>
          <p:cNvCxnSpPr/>
          <p:nvPr/>
        </p:nvCxnSpPr>
        <p:spPr>
          <a:xfrm>
            <a:off x="6505575" y="2453593"/>
            <a:ext cx="5114925" cy="2785157"/>
          </a:xfrm>
          <a:prstGeom prst="line">
            <a:avLst/>
          </a:prstGeom>
        </p:spPr>
        <p:style>
          <a:lnRef idx="1">
            <a:schemeClr val="accent1"/>
          </a:lnRef>
          <a:fillRef idx="0">
            <a:schemeClr val="accent1"/>
          </a:fillRef>
          <a:effectRef idx="0">
            <a:schemeClr val="accent1"/>
          </a:effectRef>
          <a:fontRef idx="minor">
            <a:schemeClr val="tx1"/>
          </a:fontRef>
        </p:style>
      </p:cxnSp>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151" y="2453593"/>
            <a:ext cx="4957412" cy="285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Connector 5"/>
          <p:cNvCxnSpPr/>
          <p:nvPr/>
        </p:nvCxnSpPr>
        <p:spPr>
          <a:xfrm>
            <a:off x="311151" y="2453593"/>
            <a:ext cx="4957412" cy="28575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960" y="1089025"/>
            <a:ext cx="10222991" cy="510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0884" y="1083247"/>
            <a:ext cx="9644443" cy="5445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840" y="816978"/>
            <a:ext cx="9902952" cy="5346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 xmlns:a16="http://schemas.microsoft.com/office/drawing/2014/main" id="{ED65F54F-855A-0DB6-09A6-3212C5F7405B}"/>
              </a:ext>
            </a:extLst>
          </p:cNvPr>
          <p:cNvSpPr txBox="1"/>
          <p:nvPr/>
        </p:nvSpPr>
        <p:spPr>
          <a:xfrm>
            <a:off x="777240" y="1207008"/>
            <a:ext cx="11301984" cy="5016758"/>
          </a:xfrm>
          <a:prstGeom prst="rect">
            <a:avLst/>
          </a:prstGeom>
          <a:noFill/>
        </p:spPr>
        <p:txBody>
          <a:bodyPr wrap="square" rtlCol="0">
            <a:spAutoFit/>
          </a:bodyPr>
          <a:lstStyle/>
          <a:p>
            <a:r>
              <a:rPr lang="en-US" sz="2000" dirty="0"/>
              <a:t>The </a:t>
            </a:r>
            <a:r>
              <a:rPr lang="en-US" sz="2000" b="1" dirty="0" err="1"/>
              <a:t>Agentic</a:t>
            </a:r>
            <a:r>
              <a:rPr lang="en-US" sz="2000" b="1" dirty="0"/>
              <a:t> RAG Interview Trainer</a:t>
            </a:r>
            <a:r>
              <a:rPr lang="en-US" sz="2000" dirty="0"/>
              <a:t> is unique because it combines </a:t>
            </a:r>
            <a:r>
              <a:rPr lang="en-US" sz="2000" b="1" dirty="0" err="1"/>
              <a:t>Agentic</a:t>
            </a:r>
            <a:r>
              <a:rPr lang="en-US" sz="2000" b="1" dirty="0"/>
              <a:t> AI + RAG + IBM Granite</a:t>
            </a:r>
            <a:r>
              <a:rPr lang="en-US" sz="2000" dirty="0"/>
              <a:t> to create an adaptive mock-interview experience.</a:t>
            </a:r>
          </a:p>
          <a:p>
            <a:pPr marL="342900" indent="-342900">
              <a:buFont typeface="Arial" pitchFamily="34" charset="0"/>
              <a:buChar char="•"/>
            </a:pPr>
            <a:r>
              <a:rPr lang="en-US" sz="2000" b="1" dirty="0"/>
              <a:t>Adaptive interviews</a:t>
            </a:r>
            <a:r>
              <a:rPr lang="en-US" sz="2000" dirty="0"/>
              <a:t> – Questions dynamically adjust based on the candidate’s previous answers and performance. </a:t>
            </a:r>
          </a:p>
          <a:p>
            <a:pPr marL="342900" indent="-342900">
              <a:buFont typeface="Arial" pitchFamily="34" charset="0"/>
              <a:buChar char="•"/>
            </a:pPr>
            <a:r>
              <a:rPr lang="en-US" sz="2000" b="1" dirty="0"/>
              <a:t>RAG-grounded questions</a:t>
            </a:r>
            <a:r>
              <a:rPr lang="en-US" sz="2000" dirty="0"/>
              <a:t> – The system retrieves relevant information from the knowledge base to generate more contextual and reliable interview questions. </a:t>
            </a:r>
          </a:p>
          <a:p>
            <a:pPr marL="342900" indent="-342900">
              <a:buFont typeface="Arial" pitchFamily="34" charset="0"/>
              <a:buChar char="•"/>
            </a:pPr>
            <a:r>
              <a:rPr lang="en-US" sz="2000" b="1" dirty="0"/>
              <a:t>AI-based answer evaluation</a:t>
            </a:r>
            <a:r>
              <a:rPr lang="en-US" sz="2000" dirty="0"/>
              <a:t> – Answers are evaluated for </a:t>
            </a:r>
            <a:r>
              <a:rPr lang="en-US" sz="2000" b="1" dirty="0"/>
              <a:t>relevance, accuracy, completeness, specificity, and communication</a:t>
            </a:r>
            <a:r>
              <a:rPr lang="en-US" sz="2000" dirty="0"/>
              <a:t>, rather than simply marking them right or wrong. </a:t>
            </a:r>
          </a:p>
          <a:p>
            <a:pPr marL="342900" indent="-342900">
              <a:buFont typeface="Arial" pitchFamily="34" charset="0"/>
              <a:buChar char="•"/>
            </a:pPr>
            <a:r>
              <a:rPr lang="en-US" sz="2000" b="1" dirty="0"/>
              <a:t>Personalized feedback</a:t>
            </a:r>
            <a:r>
              <a:rPr lang="en-US" sz="2000" dirty="0"/>
              <a:t> – The system identifies strengths and areas for improvement and provides actionable interview guidance. </a:t>
            </a:r>
          </a:p>
          <a:p>
            <a:pPr marL="342900" indent="-342900">
              <a:buFont typeface="Arial" pitchFamily="34" charset="0"/>
              <a:buChar char="•"/>
            </a:pPr>
            <a:r>
              <a:rPr lang="en-US" sz="2000" b="1" dirty="0"/>
              <a:t>Context-aware workflow</a:t>
            </a:r>
            <a:r>
              <a:rPr lang="en-US" sz="2000" dirty="0"/>
              <a:t> – It maintains the interview session, question history, answers, evaluations, and progress to create a continuous interview experience. </a:t>
            </a:r>
          </a:p>
          <a:p>
            <a:pPr marL="342900" indent="-342900">
              <a:buFont typeface="Arial" pitchFamily="34" charset="0"/>
              <a:buChar char="•"/>
            </a:pPr>
            <a:r>
              <a:rPr lang="en-US" sz="2000" b="1" dirty="0" err="1"/>
              <a:t>Agentic</a:t>
            </a:r>
            <a:r>
              <a:rPr lang="en-US" sz="2000" b="1" dirty="0"/>
              <a:t> decision-making</a:t>
            </a:r>
            <a:r>
              <a:rPr lang="en-US" sz="2000" dirty="0"/>
              <a:t> – The system autonomously manages question generation, retrieval, evaluation, and interview progression.</a:t>
            </a:r>
          </a:p>
          <a:p>
            <a:pPr marL="342900" indent="-342900">
              <a:buFont typeface="Arial" pitchFamily="34" charset="0"/>
              <a:buChar char="•"/>
            </a:pPr>
            <a:endParaRPr lang="en-IN" sz="2000" dirty="0"/>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a:t>
            </a:r>
            <a:r>
              <a:rPr lang="en-US" sz="3600" dirty="0">
                <a:solidFill>
                  <a:srgbClr val="2B3541"/>
                </a:solidFill>
                <a:latin typeface="Times New Roman"/>
                <a:ea typeface="Times New Roman"/>
                <a:cs typeface="Times New Roman"/>
                <a:sym typeface="Times New Roman"/>
              </a:rPr>
              <a:t>https://github.com/Du4ga/AI-</a:t>
            </a:r>
            <a:r>
              <a:rPr lang="en-US" sz="3600" dirty="0" err="1">
                <a:solidFill>
                  <a:srgbClr val="2B3541"/>
                </a:solidFill>
                <a:latin typeface="Times New Roman"/>
                <a:ea typeface="Times New Roman"/>
                <a:cs typeface="Times New Roman"/>
                <a:sym typeface="Times New Roman"/>
              </a:rPr>
              <a:t>Agentic</a:t>
            </a:r>
            <a:r>
              <a:rPr lang="en-US" sz="3600" dirty="0">
                <a:solidFill>
                  <a:srgbClr val="2B3541"/>
                </a:solidFill>
                <a:latin typeface="Times New Roman"/>
                <a:ea typeface="Times New Roman"/>
                <a:cs typeface="Times New Roman"/>
                <a:sym typeface="Times New Roman"/>
              </a:rPr>
              <a:t>-RAG-Interview-</a:t>
            </a:r>
            <a:r>
              <a:rPr lang="en-US" sz="3600" dirty="0" err="1">
                <a:solidFill>
                  <a:srgbClr val="2B3541"/>
                </a:solidFill>
                <a:latin typeface="Times New Roman"/>
                <a:ea typeface="Times New Roman"/>
                <a:cs typeface="Times New Roman"/>
                <a:sym typeface="Times New Roman"/>
              </a:rPr>
              <a:t>Trainer.git</a:t>
            </a:r>
            <a:endParaRPr lang="en-US" sz="3600" dirty="0">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36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US" sz="2000" b="1" dirty="0"/>
              <a:t>1. Voice-Based AI Interview Assistant –</a:t>
            </a:r>
            <a:endParaRPr lang="en-US" sz="2000" dirty="0"/>
          </a:p>
          <a:p>
            <a:r>
              <a:rPr lang="en-US" sz="2000" dirty="0"/>
              <a:t>The system can be integrated with </a:t>
            </a:r>
            <a:r>
              <a:rPr lang="en-US" sz="2000" b="1" dirty="0"/>
              <a:t>speech-to-text and text-to-speech technologies</a:t>
            </a:r>
            <a:r>
              <a:rPr lang="en-US" sz="2000" dirty="0"/>
              <a:t> to conduct real-time voice-based mock interviews. This will allow candidates to answer naturally through voice while the system evaluates their responses and provides instant feedback.</a:t>
            </a:r>
          </a:p>
          <a:p>
            <a:r>
              <a:rPr lang="en-US" sz="2000" b="1" dirty="0"/>
              <a:t>2. Multilingual Interview Support –</a:t>
            </a:r>
            <a:endParaRPr lang="en-US" sz="2000" dirty="0"/>
          </a:p>
          <a:p>
            <a:r>
              <a:rPr lang="en-US" sz="2000" dirty="0"/>
              <a:t>Enhancing the system with </a:t>
            </a:r>
            <a:r>
              <a:rPr lang="en-US" sz="2000" b="1" dirty="0"/>
              <a:t>multilingual capabilities</a:t>
            </a:r>
            <a:r>
              <a:rPr lang="en-US" sz="2000" dirty="0"/>
              <a:t> will allow candidates to practice interviews in their preferred language. This will improve accessibility and make the Interview Trainer suitable for users from diverse linguistic backgrounds.</a:t>
            </a:r>
          </a:p>
          <a:p>
            <a:r>
              <a:rPr lang="en-US" sz="2000" b="1" dirty="0"/>
              <a:t>3. Resume-Based Personalized Interviews –</a:t>
            </a:r>
            <a:endParaRPr lang="en-US" sz="2000" dirty="0"/>
          </a:p>
          <a:p>
            <a:r>
              <a:rPr lang="en-US" sz="2000" dirty="0"/>
              <a:t>The system can be enhanced to </a:t>
            </a:r>
            <a:r>
              <a:rPr lang="en-US" sz="2000" b="1" dirty="0"/>
              <a:t>analyze a candidate’s resume</a:t>
            </a:r>
            <a:r>
              <a:rPr lang="en-US" sz="2000" dirty="0"/>
              <a:t> and generate personalized questions based on their skills, projects, education, and experience, providing a more realistic interview experience.</a:t>
            </a:r>
          </a:p>
          <a:p>
            <a:r>
              <a:rPr lang="en-US" sz="2000" b="1" dirty="0"/>
              <a:t>4. Advanced Performance Analytics –</a:t>
            </a:r>
            <a:endParaRPr lang="en-US" sz="2000" dirty="0"/>
          </a:p>
          <a:p>
            <a:r>
              <a:rPr lang="en-US" sz="2000" dirty="0"/>
              <a:t>Future versions can provide </a:t>
            </a:r>
            <a:r>
              <a:rPr lang="en-US" sz="2000" b="1" dirty="0"/>
              <a:t>detailed performance tracking</a:t>
            </a:r>
            <a:r>
              <a:rPr lang="en-US" sz="2000" dirty="0"/>
              <a:t>, including progress trends, frequently occurring weaknesses, skill-wise scores, and personalized recommendations for improvement.</a:t>
            </a:r>
          </a:p>
          <a:p>
            <a:pPr marL="0" marR="0" lvl="0" indent="0" algn="l" rtl="0">
              <a:lnSpc>
                <a:spcPct val="162162"/>
              </a:lnSpc>
              <a:spcBef>
                <a:spcPts val="0"/>
              </a:spcBef>
              <a:spcAft>
                <a:spcPts val="0"/>
              </a:spcAft>
              <a:buClr>
                <a:srgbClr val="2B3541"/>
              </a:buClr>
              <a:buSzPts val="1850"/>
              <a:buFont typeface="Times New Roman"/>
              <a:buNone/>
            </a:pPr>
            <a:endParaRPr sz="20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sp>
        <p:nvSpPr>
          <p:cNvPr id="7" name="Rectangle 6">
            <a:extLst>
              <a:ext uri="{FF2B5EF4-FFF2-40B4-BE49-F238E27FC236}">
                <a16:creationId xmlns="" xmlns:a16="http://schemas.microsoft.com/office/drawing/2014/main" id="{633BADBC-6623-0D21-CD7E-B05CE0A81B97}"/>
              </a:ext>
            </a:extLst>
          </p:cNvPr>
          <p:cNvSpPr/>
          <p:nvPr/>
        </p:nvSpPr>
        <p:spPr>
          <a:xfrm>
            <a:off x="2841524" y="2979175"/>
            <a:ext cx="4414683" cy="4498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1832" y="1151726"/>
            <a:ext cx="9985248" cy="5121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3896" y="1200580"/>
            <a:ext cx="8805672" cy="5303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162</TotalTime>
  <Words>924</Words>
  <Application>Microsoft Office PowerPoint</Application>
  <PresentationFormat>Custom</PresentationFormat>
  <Paragraphs>109</Paragraphs>
  <Slides>20</Slides>
  <Notes>16</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Lenovo</cp:lastModifiedBy>
  <cp:revision>15</cp:revision>
  <dcterms:created xsi:type="dcterms:W3CDTF">2025-07-08T05:06:56Z</dcterms:created>
  <dcterms:modified xsi:type="dcterms:W3CDTF">2026-09-07T12:46:44Z</dcterms:modified>
</cp:coreProperties>
</file>